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72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10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8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41248"/>
            <a:ext cx="8229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SALESTORM  |  Syscrafters 2026</a:t>
            </a:r>
            <a:endParaRPr lang="en-US" sz="8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SALESTORM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A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High-Scale E-Commerce Flash Sale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972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971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 Customers. 100 Units. Zero Overselling.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234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Team_8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26771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 err="1">
                <a:solidFill>
                  <a:srgbClr val="5B6770"/>
                </a:solidFill>
                <a:latin typeface="Times New Roman" pitchFamily="34" charset="0"/>
                <a:cs typeface="Times New Roman" pitchFamily="34" charset="-120"/>
              </a:rPr>
              <a:t>Boopana</a:t>
            </a:r>
            <a:r>
              <a:rPr lang="en-US" sz="1200" dirty="0">
                <a:solidFill>
                  <a:srgbClr val="5B6770"/>
                </a:solidFill>
                <a:latin typeface="Times New Roman" pitchFamily="34" charset="0"/>
                <a:cs typeface="Times New Roman" pitchFamily="34" charset="-120"/>
              </a:rPr>
              <a:t> M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770"/>
                </a:solidFill>
                <a:latin typeface="Times New Roman" pitchFamily="34" charset="0"/>
                <a:cs typeface="Times New Roman" pitchFamily="34" charset="-120"/>
              </a:rPr>
              <a:t>Darshan AR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770"/>
                </a:solidFill>
                <a:latin typeface="Times New Roman" pitchFamily="34" charset="0"/>
                <a:cs typeface="Times New Roman" pitchFamily="34" charset="-120"/>
              </a:rPr>
              <a:t>Priyanka TM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770"/>
                </a:solidFill>
                <a:latin typeface="Times New Roman" pitchFamily="34" charset="0"/>
                <a:cs typeface="Times New Roman" pitchFamily="34" charset="-120"/>
              </a:rPr>
              <a:t>Nitin 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429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HACKATHON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675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SALESTORM – SYSCRAFTERS 2026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Design-First, AI-Assisted System Design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92608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 concurrent customers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20240" y="1737360"/>
            <a:ext cx="0" cy="41148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457200" y="2148840"/>
            <a:ext cx="292608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 NOW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20240" y="2697480"/>
            <a:ext cx="0" cy="41148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3108960"/>
            <a:ext cx="2926080" cy="640080"/>
          </a:xfrm>
          <a:prstGeom prst="rect">
            <a:avLst/>
          </a:prstGeom>
          <a:solidFill>
            <a:srgbClr val="F3F5F8"/>
          </a:solidFill>
          <a:ln w="254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100 units available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GO WRONG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6400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3716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Massive traffic spike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1792224"/>
            <a:ext cx="6400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7922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inventory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212848"/>
            <a:ext cx="6400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22128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Concurrent requests on the same stock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2633472"/>
            <a:ext cx="64008" cy="329184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6334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of overselling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3054096"/>
            <a:ext cx="6400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30540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orders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3474720"/>
            <a:ext cx="6400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3474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and service failures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822960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137160" tIns="137160" rIns="137160" bIns="13716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we decide which requests succeed without compromising inventory or transaction correctness?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Real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Problem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 traffic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Browse, cart, checkout at a steady rate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0" y="1325880"/>
            <a:ext cx="301752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587752" y="1051560"/>
            <a:ext cx="182880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Flash sale starts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87752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 opens at a fixed 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16552" y="1325880"/>
            <a:ext cx="301752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718304" y="1051560"/>
            <a:ext cx="18288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spike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18304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Everyone clicks Buy together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47104" y="1325880"/>
            <a:ext cx="301752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848856" y="1051560"/>
            <a:ext cx="1828800" cy="54864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pressure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48856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 locks, slow payments, growing queues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240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IT BREAKS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560320"/>
            <a:ext cx="3931920" cy="29260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contention on one stock row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26080"/>
            <a:ext cx="3931920" cy="29260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gateway delays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3931920" cy="292608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Downstream services failing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240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Lost revenue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907792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dissatisfaction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255264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Overselling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602736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transactions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950208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Failed orders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can't a normal checkout handle this?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Every request touches stock, so correctness breaks under contention.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NEED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9875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REQUIREMENT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329184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sudden traffic spikes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467612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206240" y="1261872"/>
            <a:ext cx="4480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absorption, rate limiting, horizontal scale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32918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overselling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988820"/>
            <a:ext cx="45720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206240" y="1783080"/>
            <a:ext cx="44805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Concurrency-safe inventory reservation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04288"/>
            <a:ext cx="329184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duplicate payment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2510028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206240" y="2304288"/>
            <a:ext cx="4480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Idempotency keys on purchase and payment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25496"/>
            <a:ext cx="329184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 stock must not get stuck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3031236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206240" y="2825496"/>
            <a:ext cx="4480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Temporary reservation with expiry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46704"/>
            <a:ext cx="329184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processing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3552444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206240" y="3346704"/>
            <a:ext cx="4480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Retry + reconciliation + events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67912"/>
            <a:ext cx="329184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Traceable transactions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4073652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206240" y="3867912"/>
            <a:ext cx="4480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logs + correlation IDs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requirement matters most?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No overselling. Every other choice protects 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+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987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discovery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80160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280160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check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82496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682496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682496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84832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084832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Shipment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084832"/>
            <a:ext cx="123444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280160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1280160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1280160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682496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latency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682496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682496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tolerance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084832"/>
            <a:ext cx="1234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697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MEASURABLE CONSTRAINTS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999232"/>
            <a:ext cx="1554480" cy="1005840"/>
          </a:xfrm>
          <a:prstGeom prst="rect">
            <a:avLst/>
          </a:prstGeom>
          <a:solidFill>
            <a:srgbClr val="F3F5F8"/>
          </a:solidFill>
          <a:ln w="1905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concurrent purchase attempts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125980" y="2999232"/>
            <a:ext cx="1554480" cy="1005840"/>
          </a:xfrm>
          <a:prstGeom prst="rect">
            <a:avLst/>
          </a:prstGeom>
          <a:solidFill>
            <a:srgbClr val="F3F5F8"/>
          </a:solidFill>
          <a:ln w="1905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units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2999232"/>
            <a:ext cx="1554480" cy="1005840"/>
          </a:xfrm>
          <a:prstGeom prst="rect">
            <a:avLst/>
          </a:prstGeom>
          <a:solidFill>
            <a:srgbClr val="F3F5F8"/>
          </a:solidFill>
          <a:ln w="19050">
            <a:solidFill>
              <a:srgbClr val="2E7D32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overselling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63540" y="2999232"/>
            <a:ext cx="1554480" cy="1005840"/>
          </a:xfrm>
          <a:prstGeom prst="rect">
            <a:avLst/>
          </a:prstGeom>
          <a:solidFill>
            <a:srgbClr val="F3F5F8"/>
          </a:solidFill>
          <a:ln w="1905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requests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999232"/>
            <a:ext cx="1554480" cy="1005840"/>
          </a:xfrm>
          <a:prstGeom prst="rect">
            <a:avLst/>
          </a:prstGeom>
          <a:solidFill>
            <a:srgbClr val="F3F5F8"/>
          </a:solidFill>
          <a:ln w="1905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 on payment failure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we know the design is correct?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Each requirement is measurable and can be checked with a test.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3716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0" y="1252728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194560" y="1024128"/>
            <a:ext cx="13716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CDN / WAF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absorbs and filters edge traffic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66160" y="1252728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931920" y="1024128"/>
            <a:ext cx="13716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Balancer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spreads requests over instances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252728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669280" y="1024128"/>
            <a:ext cx="13716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routing + rate limiting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252728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406640" y="1024128"/>
            <a:ext cx="13716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/ Cart / Sale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cached, read-heavy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0" y="1481328"/>
            <a:ext cx="0" cy="621792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Shipment / Notify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async, off the critical path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103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Service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created from a payment event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103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Service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adapter to the gateway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2103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Checkout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owns the purchase flow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103120"/>
            <a:ext cx="13716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+ Reservation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consistency boundary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H="1">
            <a:off x="7040880" y="2331720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5303520" y="2331720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3566160" y="2331720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1828800" y="2331720"/>
            <a:ext cx="36576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5720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SUPPORTING INFRASTRUCTURE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273552"/>
            <a:ext cx="123444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5B677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3657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cuts DB reads; not stock truth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3273552"/>
            <a:ext cx="123444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5B677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Message Queue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783080" y="3657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absorbs async load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200400" y="3273552"/>
            <a:ext cx="123444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5B677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3657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3273552"/>
            <a:ext cx="123444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5B677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3273552"/>
            <a:ext cx="123444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5B677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3273552"/>
            <a:ext cx="123444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5B677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52160" y="4133088"/>
            <a:ext cx="54864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492240" y="4023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 (critical path)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33088"/>
            <a:ext cx="54864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109728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Async (events, queue)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we need an API Gateway?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One entry point for routing, auth and rate limits.</a:t>
            </a:r>
            <a:endParaRPr lang="en-US" sz="10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FAA2F7E-E1F0-0188-4AF0-F6FC5E75A8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67" y="830961"/>
            <a:ext cx="8790305" cy="3388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100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8872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 BUY REQUESTS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645920" y="14401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874520" y="1051560"/>
            <a:ext cx="1188720" cy="77724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Absorption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CDN · WAF · LB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14401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291840" y="1051560"/>
            <a:ext cx="1188720" cy="77724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/ Rate Limit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440180"/>
            <a:ext cx="22860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709160" y="1051560"/>
            <a:ext cx="118872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1440180"/>
            <a:ext cx="22860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126480" y="1051560"/>
            <a:ext cx="118872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Concurrency Control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atomic reserve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4401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543800" y="1051560"/>
            <a:ext cx="118872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100 SUCCESSFUL RESERVATIONS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8562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inventory path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94560"/>
            <a:ext cx="256032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194560"/>
            <a:ext cx="256032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194560"/>
            <a:ext cx="2560320" cy="86868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9,900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rejected / failed safely (sold out)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does not allow all requests to directly modify inventory.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7315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" y="3657600"/>
            <a:ext cx="8156448" cy="7772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</a:t>
            </a:r>
            <a:r>
              <a:rPr lang="en-US" sz="13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exactly is overselling prevented?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inventory reservation boundary, using concurrency-safe atomic reservation logic.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show the design target for the scenario, not measured results.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828800" y="1234440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194560" y="1005840"/>
            <a:ext cx="13716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566160" y="1234440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931920" y="1005840"/>
            <a:ext cx="13716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PAYMENT_PENDING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1234440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669280" y="1005840"/>
            <a:ext cx="137160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0880" y="1234440"/>
            <a:ext cx="36576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406640" y="1005840"/>
            <a:ext cx="13716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83080"/>
            <a:ext cx="11887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1956816"/>
            <a:ext cx="274320" cy="0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920240" y="1783080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PAYMENT_FAILED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956816"/>
            <a:ext cx="274320" cy="0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474720" y="1783080"/>
            <a:ext cx="1097280" cy="347472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240280"/>
            <a:ext cx="11887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2414016"/>
            <a:ext cx="274320" cy="0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920240" y="2240280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414016"/>
            <a:ext cx="274320" cy="0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474720" y="2240280"/>
            <a:ext cx="1097280" cy="347472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783080"/>
            <a:ext cx="384048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+ reserved + sold = total inventory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reservation carries: reservation_id · expires_at · idempotency_key · version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926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 UNIT EXAMPLE  (INVENTORY = 1)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246120"/>
            <a:ext cx="128016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840480"/>
            <a:ext cx="1280160" cy="36576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3429000"/>
            <a:ext cx="640080" cy="22860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737360" y="3794760"/>
            <a:ext cx="640080" cy="22860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377440" y="3429000"/>
            <a:ext cx="1645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(atomic, versioned)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V="1">
            <a:off x="4023360" y="3429000"/>
            <a:ext cx="548640" cy="18288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023360" y="3749040"/>
            <a:ext cx="548640" cy="274320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572000" y="3246120"/>
            <a:ext cx="146304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→ RESERVED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3840480"/>
            <a:ext cx="1463040" cy="36576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→ OUT OF STOCK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3246120"/>
            <a:ext cx="2194560" cy="96012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outcome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Sold = 100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Oversold = 0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10,000 requests produce only 100 reservations?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Only a versioned atomic update can take stock.</a:t>
            </a:r>
            <a:endParaRPr lang="en-US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354A-A3B3-3934-450F-41DC9444015B}"/>
              </a:ext>
            </a:extLst>
          </p:cNvPr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1C13E-8484-D8BB-727F-5298F43B19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42" y="0"/>
            <a:ext cx="8492116" cy="4830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6263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+ Order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0515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1 · Payment success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 → Payment → Order → Confirmed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005840"/>
            <a:ext cx="73152" cy="91440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0515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326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2 · Payment failure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 → Payment failed → Release reservation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02336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73152" cy="914400"/>
          </a:xfrm>
          <a:prstGeom prst="rect">
            <a:avLst/>
          </a:prstGeom>
          <a:solidFill>
            <a:srgbClr val="E59A00"/>
          </a:solidFill>
          <a:ln w="12700">
            <a:solidFill>
              <a:srgbClr val="E59A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1031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3 · Payment timeout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→ Timeout → Safe retry / reconcile → No duplicate payment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402336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057400"/>
            <a:ext cx="73152" cy="914400"/>
          </a:xfrm>
          <a:prstGeom prst="rect">
            <a:avLst/>
          </a:prstGeom>
          <a:solidFill>
            <a:srgbClr val="E59A00"/>
          </a:solidFill>
          <a:ln w="12700">
            <a:solidFill>
              <a:srgbClr val="E59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1031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4 · Payment ok, Order Service down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success → Event in queue → Retry → Order created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IDEMPOTENCY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155448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Idempotency key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0" y="3749040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468880" y="3337560"/>
            <a:ext cx="1737360" cy="822960"/>
          </a:xfrm>
          <a:prstGeom prst="diamond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Already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processed?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V="1">
            <a:off x="4206240" y="3474720"/>
            <a:ext cx="822960" cy="27432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3749040"/>
            <a:ext cx="822960" cy="27432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434840" y="3337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977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29184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existing result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84048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request once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if payment succeeds but Order Service fails?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The event is retried until the order exists.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280160" cy="384048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737360" y="1216152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194560" y="1024128"/>
            <a:ext cx="1280160" cy="384048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216152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931920" y="1024128"/>
            <a:ext cx="1280160" cy="384048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1216152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669280" y="1024128"/>
            <a:ext cx="1280160" cy="384048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216152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406640" y="1024128"/>
            <a:ext cx="1280160" cy="384048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SHIPMENT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37360"/>
            <a:ext cx="1280160" cy="384048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1929384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194560" y="1737360"/>
            <a:ext cx="12801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929384"/>
            <a:ext cx="45720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931920" y="1737360"/>
            <a:ext cx="12801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4572000" y="1408176"/>
            <a:ext cx="0" cy="329184"/>
          </a:xfrm>
          <a:prstGeom prst="line">
            <a:avLst/>
          </a:prstGeom>
          <a:noFill/>
          <a:ln w="19050">
            <a:solidFill>
              <a:srgbClr val="E59A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concurrency path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23160"/>
            <a:ext cx="246888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15768"/>
            <a:ext cx="2468880" cy="160020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inventory_id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product_id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available_quantity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reserved_quantity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sold_quantity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updated_at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2423160"/>
            <a:ext cx="246888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715768"/>
            <a:ext cx="2468880" cy="160020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reservation_id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inventory_id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expires_at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idempotency_key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2423160"/>
            <a:ext cx="2926080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THESE FIELDS MATTER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2788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</a:t>
            </a:r>
            <a:r>
              <a:rPr lang="en-US" sz="11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→ concurrency control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expires_at</a:t>
            </a:r>
            <a:r>
              <a:rPr lang="en-US" sz="11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→ reservation cleanup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idempotency_key</a:t>
            </a:r>
            <a:r>
              <a:rPr lang="en-US" sz="11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→ duplicate prevention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and Payment store the same key.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we need version and idempotency fields?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One stops lost updates, the other stops repeats.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+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 Design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5029200" cy="914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Endpoint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 /checkout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Checkout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Start purchase, validate session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 /reservations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Inventory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Atomic reserve, returns reservation_id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 /payments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idempotency key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 /orders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Create order after payment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 /orders/{id}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Read order status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05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280160"/>
            <a:ext cx="141732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ReservationCreated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269480" y="1280160"/>
            <a:ext cx="141732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E59A00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PaymentSucceeded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664208"/>
            <a:ext cx="141732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PaymentFailed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1664208"/>
            <a:ext cx="141732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E59A00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OrderCreated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2048256"/>
            <a:ext cx="141732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ReservationExpired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048256"/>
            <a:ext cx="1417320" cy="310896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ShipmentCreated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017520"/>
            <a:ext cx="82296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</a:t>
            </a:r>
            <a:endParaRPr lang="en-US" sz="1100" dirty="0"/>
          </a:p>
        </p:txBody>
      </p:sp>
      <p:sp>
        <p:nvSpPr>
          <p:cNvPr id="3" name="Text 9"/>
          <p:cNvSpPr txBox="1"/>
          <p:nvPr/>
        </p:nvSpPr>
        <p:spPr>
          <a:xfrm>
            <a:off x="1463040" y="301752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51760" y="3209544"/>
            <a:ext cx="4572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108960" y="3017520"/>
            <a:ext cx="1188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61188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9A0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ASYNC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361188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68880" y="3803904"/>
            <a:ext cx="36576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dash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834640" y="361188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9A00"/>
            </a:solidFill>
            <a:prstDash val="dash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 bus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0" y="3803904"/>
            <a:ext cx="365760" cy="0"/>
          </a:xfrm>
          <a:prstGeom prst="line">
            <a:avLst/>
          </a:prstGeom>
          <a:noFill/>
          <a:ln w="19050">
            <a:solidFill>
              <a:srgbClr val="E59A00"/>
            </a:solidFill>
            <a:prstDash val="dash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206240" y="361188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3017520"/>
            <a:ext cx="2926080" cy="978408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async here?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prevent downstream failure from blocking the critical transaction path.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this operation asynchronous?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Order creation can retry without holding up checkout.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LLD + SOLID +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Patterns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 MODULE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56032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reserve(), release(), confirm()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7360" y="1783080"/>
            <a:ext cx="0" cy="246888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2029968"/>
            <a:ext cx="256032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transitions, expiry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2578608"/>
            <a:ext cx="0" cy="246888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" y="2825496"/>
            <a:ext cx="2560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«interface» InventoryRepository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tryReserve(id, version)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3374136"/>
            <a:ext cx="0" cy="246888"/>
          </a:xfrm>
          <a:prstGeom prst="line">
            <a:avLst/>
          </a:prstGeom>
          <a:noFill/>
          <a:ln w="19050">
            <a:solidFill>
              <a:srgbClr val="0B2545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57200" y="3621024"/>
            <a:ext cx="2560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SqlInventoryRepository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UPDATE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960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234440"/>
            <a:ext cx="237744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SRP</a:t>
            </a:r>
            <a:endParaRPr lang="en-US" sz="11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InventoryService only orchestrates reservation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258568"/>
            <a:ext cx="237744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</a:t>
            </a:r>
            <a:endParaRPr lang="en-US" sz="11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depends on a repository interface, not SQL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282696"/>
            <a:ext cx="2377440" cy="914400"/>
          </a:xfrm>
          <a:prstGeom prst="rect">
            <a:avLst/>
          </a:prstGeom>
          <a:solidFill>
            <a:srgbClr val="F3F5F8"/>
          </a:solidFill>
          <a:ln w="12700">
            <a:solidFill>
              <a:srgbClr val="C9D1DA"/>
            </a:solidFill>
            <a:prstDash val="solid"/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OCP</a:t>
            </a:r>
            <a:endParaRPr lang="en-US" sz="11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reservation strategies plug in without edits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960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PATTERNS: WHAT THEY SOLVE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123444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 lifecycle; blocks illegal jumps like SOLD → RESERVED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86537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Swap reservation or payment rules without editing the service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49631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Repository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Hides the DB behind an interface; tests use a fake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12724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Adapter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Wraps the external payment provider API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75818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Circuit Breaker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Stops calling a provider that keeps failing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design pattern?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Each one removes a specific failure or coupling problem.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Handling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Recovery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4323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Scenario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Failure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Recovery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 declined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Gateway returns failure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Release reservation; stock back to AVAILABLE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 timeout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answer from gateway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Retry with same idempotency key; reconcile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Service down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order after payment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Event stays in queue; retry until created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Database blip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DB briefly unavailable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Retry with backoff; fail safe, never guess stock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Message fails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Consumer errors repeatedly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Retries, then dead-letter queue + alert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External service down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Provider keeps failing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Circuit breaker opens; fail fast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reconciliation job compares payments, reservations and orders, and repairs any drift.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is expected. Incorrect state is not.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the system recover?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Retries, dead-letter queues and reconciliation restore correct state.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3D0A-FC26-8275-728F-89DC47E52589}"/>
              </a:ext>
            </a:extLst>
          </p:cNvPr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3" name="Picture 2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768233B4-354B-CDD7-3DB3-9308A824C7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2" y="862149"/>
            <a:ext cx="8411498" cy="39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18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Scalability, Security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Observability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26517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718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965960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Stateless services scale out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balancing across instances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 read-heavy product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Queues absorb async work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 read replicas, partition by product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stock stays behind one reservation boundary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63040"/>
            <a:ext cx="243230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10K req/s → 500K req/s  (50×)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024128"/>
            <a:ext cx="26517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9718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55848" y="1508760"/>
            <a:ext cx="2468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 everywhere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validation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Secrets management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payment handling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024128"/>
            <a:ext cx="2651760" cy="3474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51760" cy="29718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508760"/>
            <a:ext cx="2468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rate, latency, error rate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failures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 failures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backlog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Distributed tracing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logging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429000"/>
            <a:ext cx="2468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we know the system is healthy?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errors, flat queue backlog, reconciliation finds no drift.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changes when traffic increases 50×?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Scale out stateless layers; protect the inventory write path.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 + </a:t>
            </a:r>
            <a:r>
              <a:rPr lang="en-US" sz="24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Impact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645920" cy="777240"/>
          </a:xfrm>
          <a:prstGeom prst="rect">
            <a:avLst/>
          </a:prstGeom>
          <a:solidFill>
            <a:srgbClr val="F3F5F8"/>
          </a:solidFill>
          <a:ln w="1524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Concurrent requests</a:t>
            </a:r>
            <a:endParaRPr lang="en-US" sz="11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input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005840"/>
            <a:ext cx="1645920" cy="777240"/>
          </a:xfrm>
          <a:prstGeom prst="rect">
            <a:avLst/>
          </a:prstGeom>
          <a:solidFill>
            <a:srgbClr val="F3F5F8"/>
          </a:solidFill>
          <a:ln w="1524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units</a:t>
            </a:r>
            <a:endParaRPr lang="en-US" sz="11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input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005840"/>
            <a:ext cx="1645920" cy="777240"/>
          </a:xfrm>
          <a:prstGeom prst="rect">
            <a:avLst/>
          </a:prstGeom>
          <a:solidFill>
            <a:srgbClr val="F3F5F8"/>
          </a:solidFill>
          <a:ln w="1524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 reservations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fill after run ]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100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1645920" cy="777240"/>
          </a:xfrm>
          <a:prstGeom prst="rect">
            <a:avLst/>
          </a:prstGeom>
          <a:solidFill>
            <a:srgbClr val="F3F5F8"/>
          </a:solidFill>
          <a:ln w="1524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Overselling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fill after run ]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874520"/>
            <a:ext cx="1645920" cy="777240"/>
          </a:xfrm>
          <a:prstGeom prst="rect">
            <a:avLst/>
          </a:prstGeom>
          <a:solidFill>
            <a:srgbClr val="F3F5F8"/>
          </a:solidFill>
          <a:ln w="1524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orders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fill after run ]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874520"/>
            <a:ext cx="1645920" cy="777240"/>
          </a:xfrm>
          <a:prstGeom prst="rect">
            <a:avLst/>
          </a:prstGeom>
          <a:solidFill>
            <a:srgbClr val="F3F5F8"/>
          </a:solidFill>
          <a:ln w="1524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Reservation expiry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verify ]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handled by expiry job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34640"/>
            <a:ext cx="118872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30403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874520" y="2834640"/>
            <a:ext cx="118872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30403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291840" y="2834640"/>
            <a:ext cx="1188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Concurrency control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0403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709160" y="2834640"/>
            <a:ext cx="118872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transactions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30403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126480" y="2834640"/>
            <a:ext cx="118872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recovery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3040380"/>
            <a:ext cx="228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543800" y="2834640"/>
            <a:ext cx="1188720" cy="411480"/>
          </a:xfrm>
          <a:prstGeom prst="rect">
            <a:avLst/>
          </a:prstGeom>
          <a:solidFill>
            <a:srgbClr val="F3F5F8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system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units must produce at most 100 successful sales, regardless of how many customers compete for them.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50208"/>
            <a:ext cx="8229600" cy="411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first. Validate with evidence. Defend every decision.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07992"/>
            <a:ext cx="8229600" cy="329184"/>
          </a:xfrm>
          <a:prstGeom prst="rect">
            <a:avLst/>
          </a:prstGeom>
          <a:solidFill>
            <a:srgbClr val="F3F5F8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59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Jury question:  </a:t>
            </a:r>
            <a:r>
              <a:rPr lang="en-US" sz="1000" i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did we validate the design?</a:t>
            </a:r>
            <a:r>
              <a:rPr lang="en-US" sz="1000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→   Load test with fixed inputs; results recorded as measured.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torm">
  <a:themeElements>
    <a:clrScheme name="Salestorm">
      <a:dk1>
        <a:srgbClr val="000000"/>
      </a:dk1>
      <a:lt1>
        <a:srgbClr val="FFFFFF"/>
      </a:lt1>
      <a:dk2>
        <a:srgbClr val="0B2545"/>
      </a:dk2>
      <a:lt2>
        <a:srgbClr val="F3F5F8"/>
      </a:lt2>
      <a:accent1>
        <a:srgbClr val="0B2545"/>
      </a:accent1>
      <a:accent2>
        <a:srgbClr val="F5A623"/>
      </a:accent2>
      <a:accent3>
        <a:srgbClr val="B3261E"/>
      </a:accent3>
      <a:accent4>
        <a:srgbClr val="2E7D32"/>
      </a:accent4>
      <a:accent5>
        <a:srgbClr val="5B6770"/>
      </a:accent5>
      <a:accent6>
        <a:srgbClr val="C9D1DA"/>
      </a:accent6>
      <a:hlink>
        <a:srgbClr val="0B2545"/>
      </a:hlink>
      <a:folHlink>
        <a:srgbClr val="5B6770"/>
      </a:folHlink>
    </a:clrScheme>
    <a:fontScheme name="Salestorm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1456</Words>
  <Application>Microsoft Office PowerPoint</Application>
  <PresentationFormat>On-screen Show (16:9)</PresentationFormat>
  <Paragraphs>394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Salestorm</vt:lpstr>
      <vt:lpstr>PowerPoint Presentation</vt:lpstr>
      <vt:lpstr>Problem Statement</vt:lpstr>
      <vt:lpstr>A Real Industry Problem</vt:lpstr>
      <vt:lpstr>Business Requirements</vt:lpstr>
      <vt:lpstr>Functional + Non-Functional</vt:lpstr>
      <vt:lpstr>Architecture Overview</vt:lpstr>
      <vt:lpstr>10,000 → 100</vt:lpstr>
      <vt:lpstr>Inventory Reservation</vt:lpstr>
      <vt:lpstr>PowerPoint Presentation</vt:lpstr>
      <vt:lpstr>Payment + Order Reliability</vt:lpstr>
      <vt:lpstr>Database Design</vt:lpstr>
      <vt:lpstr>API + Event Design</vt:lpstr>
      <vt:lpstr>LLD + SOLID + Patterns</vt:lpstr>
      <vt:lpstr>Failure Handling &amp; Recovery</vt:lpstr>
      <vt:lpstr>ER Diagram</vt:lpstr>
      <vt:lpstr>Scalability, Security &amp; Observability</vt:lpstr>
      <vt:lpstr>Prototype + Final Impact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Darshan AR</cp:lastModifiedBy>
  <cp:revision>3</cp:revision>
  <dcterms:created xsi:type="dcterms:W3CDTF">2026-10-05T14:40:39Z</dcterms:created>
  <dcterms:modified xsi:type="dcterms:W3CDTF">2026-10-05T15:02:39Z</dcterms:modified>
</cp:coreProperties>
</file>